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11.png" Type="http://schemas.openxmlformats.org/officeDocument/2006/relationships/image"/><Relationship Id="rId5" Target="../media/image14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34.png" Type="http://schemas.openxmlformats.org/officeDocument/2006/relationships/image"/><Relationship Id="rId7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128000" y="2755900"/>
            <a:ext cx="7239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000000"/>
                </a:solidFill>
                <a:latin typeface="&quot;Nunito Sans&quot;"/>
              </a:rPr>
              <a:t>Gestión de Proyectos de Software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128000" y="4559300"/>
            <a:ext cx="7239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Enfoque Híbrido: Scrum + PMBOK aplicado a desarrollo de MVP funcional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8128000" y="5600700"/>
            <a:ext cx="7239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Semana 1 – Clase 1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128000" y="6070600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000000"/>
                </a:solidFill>
                <a:latin typeface="&quot;Nunito Sans&quot;"/>
              </a:rPr>
              <a:t>Producto final: MVP / PoC funcional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768600"/>
            <a:ext cx="14490700" cy="4483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768600"/>
            <a:ext cx="4660900" cy="4483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6" id="6"/>
          <p:cNvSpPr/>
          <p:nvPr/>
        </p:nvSpPr>
        <p:spPr>
          <a:xfrm>
            <a:off x="11303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7" id="7"/>
          <p:cNvSpPr/>
          <p:nvPr/>
        </p:nvSpPr>
        <p:spPr>
          <a:xfrm>
            <a:off x="5791200" y="2768600"/>
            <a:ext cx="4660900" cy="4483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60452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9" id="9"/>
          <p:cNvSpPr/>
          <p:nvPr/>
        </p:nvSpPr>
        <p:spPr>
          <a:xfrm>
            <a:off x="10706100" y="2768600"/>
            <a:ext cx="4660900" cy="4483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0" id="10"/>
          <p:cNvSpPr/>
          <p:nvPr/>
        </p:nvSpPr>
        <p:spPr>
          <a:xfrm>
            <a:off x="109601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1879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Agenda de hoy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30300" y="40259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¿Qué es gestionar un proyecto de software?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45200" y="40259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Triple restricción y trade-offs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960100" y="40259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Scrum vs PMBOK y por qué híbrido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51054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Proceso de planificar, coordinar y controlar recursos, tiempos y alcance para entregar un producto de software funcional y con calidad.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45200" y="51054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Equilibrio entre alcance, tiempo y costo; ajustar uno implica comprometer otro, requiere priorización y negociaciones.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960100" y="51054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Scrum aporta agilidad y ciclos cortos; PMBOK ofrece gobernanza y control; un enfoque híbrido combina flexibilidad y rigidez donde conviene.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276600"/>
            <a:ext cx="2413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276600"/>
            <a:ext cx="241300" cy="241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4100" y="32766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2768600"/>
            <a:ext cx="9283700" cy="4800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2768600"/>
            <a:ext cx="928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3632200"/>
            <a:ext cx="9283700" cy="265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083300" y="6718300"/>
            <a:ext cx="9283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6083300" y="7848600"/>
            <a:ext cx="12700" cy="3556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0" id="10"/>
          <p:cNvSpPr txBox="true"/>
          <p:nvPr/>
        </p:nvSpPr>
        <p:spPr>
          <a:xfrm>
            <a:off x="6083300" y="647700"/>
            <a:ext cx="92837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000000"/>
                </a:solidFill>
                <a:latin typeface="&quot;Nunito Sans&quot;"/>
              </a:rPr>
              <a:t>Reglas de juego del curso Profesionalismo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83300" y="2070100"/>
            <a:ext cx="928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Este curso simula un entorno profesional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83300" y="2768600"/>
            <a:ext cx="928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No es solo ser, también es parecer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3632200"/>
            <a:ext cx="9283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Código mínimo de vestimenta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83300" y="6718300"/>
            <a:ext cx="9283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La asistencia implica respeto por el rol profesional, el equipo y el espacio académico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324600" y="4254500"/>
            <a:ext cx="9029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E74C3C"/>
                </a:solidFill>
                <a:ea typeface="&quot;Nunito Sans&quot;"/>
              </a:rPr>
              <a:t>❌ No bermudas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324600" y="4813300"/>
            <a:ext cx="9029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E74C3C"/>
                </a:solidFill>
                <a:ea typeface="&quot;Nunito Sans&quot;"/>
              </a:rPr>
              <a:t>❌ No camisetas sin mangas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324600" y="5372100"/>
            <a:ext cx="9029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E74C3C"/>
                </a:solidFill>
                <a:ea typeface="&quot;Nunito Sans&quot;"/>
              </a:rPr>
              <a:t>❌ No ropa de playa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324600" y="5930900"/>
            <a:ext cx="9029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2ECC71"/>
                </a:solidFill>
                <a:ea typeface="&quot;Nunito Sans&quot;"/>
              </a:rPr>
              <a:t>✅ Vestimenta casual–formal / académica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24600" y="7848600"/>
            <a:ext cx="9029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En un entorno profesional la imagen comunica compromiso y respeto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956300" y="43053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5956300" y="48641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5956300" y="54229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5956300" y="59817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8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451100"/>
            <a:ext cx="14490700" cy="4165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451100"/>
            <a:ext cx="4660900" cy="416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6" id="6"/>
          <p:cNvSpPr/>
          <p:nvPr/>
        </p:nvSpPr>
        <p:spPr>
          <a:xfrm>
            <a:off x="1130300" y="2705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7" id="7"/>
          <p:cNvSpPr/>
          <p:nvPr/>
        </p:nvSpPr>
        <p:spPr>
          <a:xfrm>
            <a:off x="5791200" y="2451100"/>
            <a:ext cx="4660900" cy="416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6045200" y="2705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9" id="9"/>
          <p:cNvSpPr/>
          <p:nvPr/>
        </p:nvSpPr>
        <p:spPr>
          <a:xfrm>
            <a:off x="10706100" y="2451100"/>
            <a:ext cx="4660900" cy="416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0" id="10"/>
          <p:cNvSpPr/>
          <p:nvPr/>
        </p:nvSpPr>
        <p:spPr>
          <a:xfrm>
            <a:off x="10960100" y="2705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11" id="11"/>
          <p:cNvSpPr/>
          <p:nvPr/>
        </p:nvSpPr>
        <p:spPr>
          <a:xfrm>
            <a:off x="876300" y="69088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1562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Reglas de juego del curso Trabajo, evaluación y uso de IA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708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El curso incluye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45200" y="37084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Uso de IA permitido y regulado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0960100" y="37084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Todas las actividades podrán incluir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384300" y="4368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Actividades individuales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384300" y="49530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Actividades grupales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384300" y="55372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Actividades mixtas (producto grupal + evidencia individual)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045200" y="47879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7BFF"/>
                </a:solidFill>
                <a:latin typeface="&quot;Nunito Sans&quot;"/>
              </a:rPr>
              <a:t>Se debe declarar explícitamente: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299200" y="5372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Qué aportó la IA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299200" y="5956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Qué aportó el estudiante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214100" y="4813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Consultas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1214100" y="54102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Discusión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1214100" y="59944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Defensa oral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30300" y="69088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La IA es una herramienta de apoyo. Si el estudiante no puede explicar o defender lo que entrega, la actividad no es válida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003300" y="4419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003300" y="5003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1003300" y="5588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5918200" y="5422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5918200" y="6007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10833100" y="4864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10833100" y="5461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10833100" y="6045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9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46400"/>
            <a:ext cx="241300" cy="241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6400"/>
            <a:ext cx="241300" cy="241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29464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425700"/>
            <a:ext cx="14490700" cy="4229100"/>
          </a:xfrm>
          <a:prstGeom prst="roundRect">
            <a:avLst>
              <a:gd name="adj" fmla="val 180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425700"/>
            <a:ext cx="4610100" cy="4229100"/>
          </a:xfrm>
          <a:prstGeom prst="roundRect">
            <a:avLst>
              <a:gd name="adj" fmla="val 180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5816600" y="2425700"/>
            <a:ext cx="4610100" cy="4229100"/>
          </a:xfrm>
          <a:prstGeom prst="roundRect">
            <a:avLst>
              <a:gd name="adj" fmla="val 180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10744200" y="2425700"/>
            <a:ext cx="4610100" cy="4229100"/>
          </a:xfrm>
          <a:prstGeom prst="roundRect">
            <a:avLst>
              <a:gd name="adj" fmla="val 1801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76300" y="69342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1536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Evaluación del curso (visión general)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4356100"/>
            <a:ext cx="4610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Total del curso: puntos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5816600" y="4356100"/>
            <a:ext cx="46101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7BFF"/>
                </a:solidFill>
                <a:latin typeface="Poppins"/>
              </a:rPr>
              <a:t>Actividades individuales: puntos (40%)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744200" y="4356100"/>
            <a:ext cx="46101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28A745"/>
                </a:solidFill>
                <a:latin typeface="Poppins"/>
              </a:rPr>
              <a:t>Actividades grupales: puntos (60%)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76300" y="2489200"/>
            <a:ext cx="4851400" cy="1803400"/>
          </a:xfrm>
          <a:prstGeom prst="roundRect">
            <a:avLst>
              <a:gd name="adj" fmla="val 4929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04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Nunito Sans&quot;"/>
              </a:rPr>
              <a:t>500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4991100"/>
            <a:ext cx="461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3200" b="true">
                <a:solidFill>
                  <a:srgbClr val="000000"/>
                </a:solidFill>
                <a:latin typeface="&quot;Nunito Sans&quot;"/>
              </a:rPr>
              <a:t>500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5816600" y="2489200"/>
            <a:ext cx="4851400" cy="1803400"/>
          </a:xfrm>
          <a:prstGeom prst="roundRect">
            <a:avLst>
              <a:gd name="adj" fmla="val 4929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04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Nunito Sans&quot;"/>
              </a:rPr>
              <a:t>200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816600" y="5892800"/>
            <a:ext cx="461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3200" b="true">
                <a:solidFill>
                  <a:srgbClr val="007BFF"/>
                </a:solidFill>
                <a:latin typeface="&quot;Nunito Sans&quot;"/>
              </a:rPr>
              <a:t>200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744200" y="2489200"/>
            <a:ext cx="4851400" cy="1803400"/>
          </a:xfrm>
          <a:prstGeom prst="roundRect">
            <a:avLst>
              <a:gd name="adj" fmla="val 4929"/>
            </a:avLst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0400" b="tru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Nunito Sans&quot;"/>
              </a:rPr>
              <a:t>300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0744200" y="5448300"/>
            <a:ext cx="4610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3200" b="true">
                <a:solidFill>
                  <a:srgbClr val="28A745"/>
                </a:solidFill>
                <a:latin typeface="&quot;Nunito Sans&quot;"/>
              </a:rPr>
              <a:t>300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69342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La evaluación está diseñada para medir tanto el desempeño individual como el trabajo en equipo, con trazabilidad clara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498600"/>
            <a:ext cx="14490700" cy="6972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115300" y="1498600"/>
            <a:ext cx="12700" cy="6972300"/>
          </a:xfrm>
          <a:prstGeom prst="roundRect">
            <a:avLst>
              <a:gd name="adj" fmla="val 50000"/>
            </a:avLst>
          </a:prstGeom>
          <a:solidFill>
            <a:srgbClr val="2F91BE"/>
          </a:solidFill>
        </p:spPr>
      </p:sp>
      <p:sp>
        <p:nvSpPr>
          <p:cNvPr name="AutoShape 6" id="6"/>
          <p:cNvSpPr/>
          <p:nvPr/>
        </p:nvSpPr>
        <p:spPr>
          <a:xfrm>
            <a:off x="876300" y="1498600"/>
            <a:ext cx="7239000" cy="2159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7835900" y="14986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8" id="8"/>
          <p:cNvSpPr/>
          <p:nvPr/>
        </p:nvSpPr>
        <p:spPr>
          <a:xfrm>
            <a:off x="7112000" y="17653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9" id="9"/>
          <p:cNvSpPr/>
          <p:nvPr/>
        </p:nvSpPr>
        <p:spPr>
          <a:xfrm>
            <a:off x="876300" y="15875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128000" y="29464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7835900" y="29464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2" id="12"/>
          <p:cNvSpPr/>
          <p:nvPr/>
        </p:nvSpPr>
        <p:spPr>
          <a:xfrm>
            <a:off x="8382000" y="32004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13" id="13"/>
          <p:cNvSpPr/>
          <p:nvPr/>
        </p:nvSpPr>
        <p:spPr>
          <a:xfrm>
            <a:off x="9385300" y="30226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4" id="14"/>
          <p:cNvSpPr/>
          <p:nvPr/>
        </p:nvSpPr>
        <p:spPr>
          <a:xfrm>
            <a:off x="876300" y="41529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7835900" y="41529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6" id="16"/>
          <p:cNvSpPr/>
          <p:nvPr/>
        </p:nvSpPr>
        <p:spPr>
          <a:xfrm>
            <a:off x="7112000" y="44069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17" id="17"/>
          <p:cNvSpPr/>
          <p:nvPr/>
        </p:nvSpPr>
        <p:spPr>
          <a:xfrm>
            <a:off x="876300" y="42291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8" id="18"/>
          <p:cNvSpPr/>
          <p:nvPr/>
        </p:nvSpPr>
        <p:spPr>
          <a:xfrm>
            <a:off x="8128000" y="53467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9" id="19"/>
          <p:cNvSpPr/>
          <p:nvPr/>
        </p:nvSpPr>
        <p:spPr>
          <a:xfrm>
            <a:off x="7835900" y="53467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20" id="20"/>
          <p:cNvSpPr/>
          <p:nvPr/>
        </p:nvSpPr>
        <p:spPr>
          <a:xfrm>
            <a:off x="8382000" y="56134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21" id="21"/>
          <p:cNvSpPr/>
          <p:nvPr/>
        </p:nvSpPr>
        <p:spPr>
          <a:xfrm>
            <a:off x="9385300" y="54356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2" id="22"/>
          <p:cNvSpPr/>
          <p:nvPr/>
        </p:nvSpPr>
        <p:spPr>
          <a:xfrm>
            <a:off x="876300" y="65532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3" id="23"/>
          <p:cNvSpPr/>
          <p:nvPr/>
        </p:nvSpPr>
        <p:spPr>
          <a:xfrm>
            <a:off x="7835900" y="65532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24" id="24"/>
          <p:cNvSpPr/>
          <p:nvPr/>
        </p:nvSpPr>
        <p:spPr>
          <a:xfrm>
            <a:off x="7112000" y="68072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25" id="25"/>
          <p:cNvSpPr/>
          <p:nvPr/>
        </p:nvSpPr>
        <p:spPr>
          <a:xfrm>
            <a:off x="876300" y="66294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26" id="26"/>
          <p:cNvSpPr txBox="true"/>
          <p:nvPr/>
        </p:nvSpPr>
        <p:spPr>
          <a:xfrm>
            <a:off x="876300" y="660400"/>
            <a:ext cx="144907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000000"/>
                </a:solidFill>
                <a:latin typeface="&quot;Nunito Sans&quot;"/>
              </a:rPr>
              <a:t>Actividades individuales (200 puntos)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876300" y="15875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I1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Reflexión ética y rol profesional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9385300" y="3022600"/>
            <a:ext cx="5981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I2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Quiz PMBOK + Scrum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876300" y="4229100"/>
            <a:ext cx="5981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I3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Análisis individual de riesgos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9385300" y="5435600"/>
            <a:ext cx="5981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I4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Bitácora de aprendizaje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876300" y="66294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I5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Lecciones aprendidas y autoevaluación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76300" y="26162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2 → </a:t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20 pts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9385300" y="36322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3 → </a:t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30 pts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876300" y="48260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6 → </a:t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40 pts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9385300" y="60325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9 → </a:t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40 pts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76300" y="76708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16 → </a:t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70 pts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651000"/>
            <a:ext cx="228600" cy="228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3124200"/>
            <a:ext cx="177800" cy="177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92600"/>
            <a:ext cx="228600" cy="228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700" y="5499100"/>
            <a:ext cx="215900" cy="215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026400" y="67310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498600"/>
            <a:ext cx="14490700" cy="6972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115300" y="1498600"/>
            <a:ext cx="12700" cy="6972300"/>
          </a:xfrm>
          <a:prstGeom prst="roundRect">
            <a:avLst>
              <a:gd name="adj" fmla="val 50000"/>
            </a:avLst>
          </a:prstGeom>
          <a:solidFill>
            <a:srgbClr val="2F91BE"/>
          </a:solidFill>
        </p:spPr>
      </p:sp>
      <p:sp>
        <p:nvSpPr>
          <p:cNvPr name="AutoShape 6" id="6"/>
          <p:cNvSpPr/>
          <p:nvPr/>
        </p:nvSpPr>
        <p:spPr>
          <a:xfrm>
            <a:off x="876300" y="1498600"/>
            <a:ext cx="7239000" cy="2159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7835900" y="14986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8" id="8"/>
          <p:cNvSpPr/>
          <p:nvPr/>
        </p:nvSpPr>
        <p:spPr>
          <a:xfrm>
            <a:off x="7112000" y="17653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9" id="9"/>
          <p:cNvSpPr/>
          <p:nvPr/>
        </p:nvSpPr>
        <p:spPr>
          <a:xfrm>
            <a:off x="876300" y="15875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128000" y="29464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7835900" y="29464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2" id="12"/>
          <p:cNvSpPr/>
          <p:nvPr/>
        </p:nvSpPr>
        <p:spPr>
          <a:xfrm>
            <a:off x="8382000" y="32004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13" id="13"/>
          <p:cNvSpPr/>
          <p:nvPr/>
        </p:nvSpPr>
        <p:spPr>
          <a:xfrm>
            <a:off x="9385300" y="3022600"/>
            <a:ext cx="5981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4" id="14"/>
          <p:cNvSpPr/>
          <p:nvPr/>
        </p:nvSpPr>
        <p:spPr>
          <a:xfrm>
            <a:off x="876300" y="41529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5" id="15"/>
          <p:cNvSpPr/>
          <p:nvPr/>
        </p:nvSpPr>
        <p:spPr>
          <a:xfrm>
            <a:off x="7835900" y="41529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6" id="16"/>
          <p:cNvSpPr/>
          <p:nvPr/>
        </p:nvSpPr>
        <p:spPr>
          <a:xfrm>
            <a:off x="7112000" y="44069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17" id="17"/>
          <p:cNvSpPr/>
          <p:nvPr/>
        </p:nvSpPr>
        <p:spPr>
          <a:xfrm>
            <a:off x="876300" y="42291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8" id="18"/>
          <p:cNvSpPr/>
          <p:nvPr/>
        </p:nvSpPr>
        <p:spPr>
          <a:xfrm>
            <a:off x="8128000" y="53467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9" id="19"/>
          <p:cNvSpPr/>
          <p:nvPr/>
        </p:nvSpPr>
        <p:spPr>
          <a:xfrm>
            <a:off x="7835900" y="53467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20" id="20"/>
          <p:cNvSpPr/>
          <p:nvPr/>
        </p:nvSpPr>
        <p:spPr>
          <a:xfrm>
            <a:off x="8382000" y="56134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21" id="21"/>
          <p:cNvSpPr/>
          <p:nvPr/>
        </p:nvSpPr>
        <p:spPr>
          <a:xfrm>
            <a:off x="9385300" y="54356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2" id="22"/>
          <p:cNvSpPr/>
          <p:nvPr/>
        </p:nvSpPr>
        <p:spPr>
          <a:xfrm>
            <a:off x="876300" y="6553200"/>
            <a:ext cx="72390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3" id="23"/>
          <p:cNvSpPr/>
          <p:nvPr/>
        </p:nvSpPr>
        <p:spPr>
          <a:xfrm>
            <a:off x="7835900" y="6553200"/>
            <a:ext cx="558800" cy="5334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24" id="24"/>
          <p:cNvSpPr/>
          <p:nvPr/>
        </p:nvSpPr>
        <p:spPr>
          <a:xfrm>
            <a:off x="7112000" y="6807200"/>
            <a:ext cx="749300" cy="12700"/>
          </a:xfrm>
          <a:prstGeom prst="rect">
            <a:avLst/>
          </a:prstGeom>
          <a:solidFill>
            <a:srgbClr val="2F91BE"/>
          </a:solidFill>
        </p:spPr>
      </p:sp>
      <p:sp>
        <p:nvSpPr>
          <p:cNvPr name="AutoShape 25" id="25"/>
          <p:cNvSpPr/>
          <p:nvPr/>
        </p:nvSpPr>
        <p:spPr>
          <a:xfrm>
            <a:off x="876300" y="6629400"/>
            <a:ext cx="5981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26" id="26"/>
          <p:cNvSpPr txBox="true"/>
          <p:nvPr/>
        </p:nvSpPr>
        <p:spPr>
          <a:xfrm>
            <a:off x="876300" y="660400"/>
            <a:ext cx="144907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700" b="true">
                <a:solidFill>
                  <a:srgbClr val="000000"/>
                </a:solidFill>
                <a:latin typeface="&quot;Nunito Sans&quot;"/>
              </a:rPr>
              <a:t>Actividades grupales (300 puntos)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876300" y="15875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G1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Definición del problema y stakeholders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9385300" y="3022600"/>
            <a:ext cx="5981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G2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Plan del proyecto híbrido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876300" y="42291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G3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Backlog priorizado y Sprint Plan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9385300" y="54356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G4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Prototipo funcional (MVP / PoC)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876300" y="66294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G5</a:t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 – Presentación final del proyecto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76300" y="26162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4 → </a:t>
            </a:r>
            <a:r>
              <a:rPr lang="en-US" sz="2400" b="true">
                <a:solidFill>
                  <a:srgbClr val="2ECC71"/>
                </a:solidFill>
                <a:latin typeface="&quot;Nunito Sans&quot;"/>
              </a:rPr>
              <a:t>50 pts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9385300" y="36322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7 → </a:t>
            </a:r>
            <a:r>
              <a:rPr lang="en-US" sz="2400" b="true">
                <a:solidFill>
                  <a:srgbClr val="2ECC71"/>
                </a:solidFill>
                <a:latin typeface="&quot;Nunito Sans&quot;"/>
              </a:rPr>
              <a:t>80 pts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876300" y="52578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10 → </a:t>
            </a:r>
            <a:r>
              <a:rPr lang="en-US" sz="2400" b="true">
                <a:solidFill>
                  <a:srgbClr val="2ECC71"/>
                </a:solidFill>
                <a:latin typeface="&quot;Nunito Sans&quot;"/>
              </a:rPr>
              <a:t>60 pts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9385300" y="64643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14 → </a:t>
            </a:r>
            <a:r>
              <a:rPr lang="en-US" sz="2400" b="true">
                <a:solidFill>
                  <a:srgbClr val="2ECC71"/>
                </a:solidFill>
                <a:latin typeface="&quot;Nunito Sans&quot;"/>
              </a:rPr>
              <a:t>80 pts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76300" y="7670800"/>
            <a:ext cx="5981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800" b="true">
                <a:solidFill>
                  <a:srgbClr val="000000"/>
                </a:solidFill>
                <a:latin typeface="&quot;Nunito Sans&quot;"/>
              </a:rPr>
              <a:t>Semana 17 → </a:t>
            </a:r>
            <a:r>
              <a:rPr lang="en-US" sz="2400" b="true">
                <a:solidFill>
                  <a:srgbClr val="2ECC71"/>
                </a:solidFill>
                <a:latin typeface="&quot;Nunito Sans&quot;"/>
              </a:rPr>
              <a:t>30 pts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651000"/>
            <a:ext cx="228600" cy="228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098800"/>
            <a:ext cx="228600" cy="228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292600"/>
            <a:ext cx="228600" cy="228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5499100"/>
            <a:ext cx="228600" cy="228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67056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3136900"/>
            <a:ext cx="14490700" cy="4470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3149600"/>
            <a:ext cx="26543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3543300" y="3149600"/>
            <a:ext cx="38862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7429500" y="3149600"/>
            <a:ext cx="33528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0795000" y="3149600"/>
            <a:ext cx="22860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13081000" y="3149600"/>
            <a:ext cx="22606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89000" y="3708400"/>
            <a:ext cx="26543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3543300" y="3708400"/>
            <a:ext cx="3886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7429500" y="3708400"/>
            <a:ext cx="33528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10795000" y="3708400"/>
            <a:ext cx="2286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3081000" y="3708400"/>
            <a:ext cx="22606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889000" y="4635500"/>
            <a:ext cx="26543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3543300" y="4635500"/>
            <a:ext cx="3886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7429500" y="4635500"/>
            <a:ext cx="33528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0795000" y="4635500"/>
            <a:ext cx="2286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13081000" y="4635500"/>
            <a:ext cx="22606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89000" y="5562600"/>
            <a:ext cx="26543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3543300" y="5562600"/>
            <a:ext cx="3886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7429500" y="5562600"/>
            <a:ext cx="33528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10795000" y="5562600"/>
            <a:ext cx="2286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3081000" y="5562600"/>
            <a:ext cx="22606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889000" y="6502400"/>
            <a:ext cx="26543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3543300" y="6502400"/>
            <a:ext cx="3886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7429500" y="6502400"/>
            <a:ext cx="3352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0795000" y="6502400"/>
            <a:ext cx="22860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13081000" y="6502400"/>
            <a:ext cx="2260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889000" y="7048500"/>
            <a:ext cx="26543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3543300" y="7048500"/>
            <a:ext cx="3886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7429500" y="7048500"/>
            <a:ext cx="3352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10795000" y="7048500"/>
            <a:ext cx="22860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4" id="34"/>
          <p:cNvSpPr/>
          <p:nvPr/>
        </p:nvSpPr>
        <p:spPr>
          <a:xfrm>
            <a:off x="13081000" y="7048500"/>
            <a:ext cx="2260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TextBox 35" id="35"/>
          <p:cNvSpPr txBox="true"/>
          <p:nvPr/>
        </p:nvSpPr>
        <p:spPr>
          <a:xfrm>
            <a:off x="876300" y="1511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Rúbrica – Actividades grupales (producto del equipo)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76300" y="24003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Evaluación del entregable grupal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977900" y="3238500"/>
            <a:ext cx="247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Criterio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3632200" y="3238500"/>
            <a:ext cx="370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Excelente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7518400" y="3238500"/>
            <a:ext cx="3175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Adecuado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10883900" y="3238500"/>
            <a:ext cx="210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Básico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3169900" y="3238500"/>
            <a:ext cx="208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Insuficiente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977900" y="3797300"/>
            <a:ext cx="2476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Definición del problema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3632200" y="3797300"/>
            <a:ext cx="37084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Problema claro, real y bien delimitado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7518400" y="3797300"/>
            <a:ext cx="3175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Problema definido con ajustes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10883900" y="3797300"/>
            <a:ext cx="2108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Problema poco claro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3169900" y="3797300"/>
            <a:ext cx="20828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Problema incorrecto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977900" y="4724400"/>
            <a:ext cx="247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Aplicación de gestión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3632200" y="4724400"/>
            <a:ext cx="37084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coherente de Scrum + PMBOK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7518400" y="4724400"/>
            <a:ext cx="3175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parcial del enfoque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10883900" y="4724400"/>
            <a:ext cx="210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superficial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13169900" y="4724400"/>
            <a:ext cx="208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No aplica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977900" y="5651500"/>
            <a:ext cx="2476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Calidad del entregable</a:t>
            </a:r>
            <a:endParaRPr lang="en-US" sz="1100"/>
          </a:p>
        </p:txBody>
      </p:sp>
      <p:sp>
        <p:nvSpPr>
          <p:cNvPr name="TextBox 53" id="53"/>
          <p:cNvSpPr txBox="true"/>
          <p:nvPr/>
        </p:nvSpPr>
        <p:spPr>
          <a:xfrm>
            <a:off x="3632200" y="5651500"/>
            <a:ext cx="37084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Completo, consistente, profesional</a:t>
            </a:r>
            <a:endParaRPr lang="en-US" sz="1100"/>
          </a:p>
        </p:txBody>
      </p:sp>
      <p:sp>
        <p:nvSpPr>
          <p:cNvPr name="TextBox 54" id="54"/>
          <p:cNvSpPr txBox="true"/>
          <p:nvPr/>
        </p:nvSpPr>
        <p:spPr>
          <a:xfrm>
            <a:off x="7518400" y="5651500"/>
            <a:ext cx="3175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Completo con detalles menores</a:t>
            </a:r>
            <a:endParaRPr lang="en-US" sz="1100"/>
          </a:p>
        </p:txBody>
      </p:sp>
      <p:sp>
        <p:nvSpPr>
          <p:cNvPr name="TextBox 55" id="55"/>
          <p:cNvSpPr txBox="true"/>
          <p:nvPr/>
        </p:nvSpPr>
        <p:spPr>
          <a:xfrm>
            <a:off x="10883900" y="5651500"/>
            <a:ext cx="210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Incompleto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13169900" y="5651500"/>
            <a:ext cx="208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Deficiente</a:t>
            </a:r>
            <a:endParaRPr lang="en-US" sz="1100"/>
          </a:p>
        </p:txBody>
      </p:sp>
      <p:sp>
        <p:nvSpPr>
          <p:cNvPr name="TextBox 57" id="57"/>
          <p:cNvSpPr txBox="true"/>
          <p:nvPr/>
        </p:nvSpPr>
        <p:spPr>
          <a:xfrm>
            <a:off x="977900" y="6591300"/>
            <a:ext cx="247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Toma de decisiones</a:t>
            </a:r>
            <a:endParaRPr lang="en-US" sz="1100"/>
          </a:p>
        </p:txBody>
      </p:sp>
      <p:sp>
        <p:nvSpPr>
          <p:cNvPr name="TextBox 58" id="58"/>
          <p:cNvSpPr txBox="true"/>
          <p:nvPr/>
        </p:nvSpPr>
        <p:spPr>
          <a:xfrm>
            <a:off x="3632200" y="6591300"/>
            <a:ext cx="370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Decisiones justificadas</a:t>
            </a:r>
            <a:endParaRPr lang="en-US" sz="1100"/>
          </a:p>
        </p:txBody>
      </p:sp>
      <p:sp>
        <p:nvSpPr>
          <p:cNvPr name="TextBox 59" id="59"/>
          <p:cNvSpPr txBox="true"/>
          <p:nvPr/>
        </p:nvSpPr>
        <p:spPr>
          <a:xfrm>
            <a:off x="7518400" y="6591300"/>
            <a:ext cx="3175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Justificación parcial</a:t>
            </a:r>
            <a:endParaRPr lang="en-US" sz="1100"/>
          </a:p>
        </p:txBody>
      </p:sp>
      <p:sp>
        <p:nvSpPr>
          <p:cNvPr name="TextBox 60" id="60"/>
          <p:cNvSpPr txBox="true"/>
          <p:nvPr/>
        </p:nvSpPr>
        <p:spPr>
          <a:xfrm>
            <a:off x="10883900" y="6591300"/>
            <a:ext cx="210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Débil</a:t>
            </a:r>
            <a:endParaRPr lang="en-US" sz="1100"/>
          </a:p>
        </p:txBody>
      </p:sp>
      <p:sp>
        <p:nvSpPr>
          <p:cNvPr name="TextBox 61" id="61"/>
          <p:cNvSpPr txBox="true"/>
          <p:nvPr/>
        </p:nvSpPr>
        <p:spPr>
          <a:xfrm>
            <a:off x="13169900" y="6591300"/>
            <a:ext cx="208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Sin justificación</a:t>
            </a:r>
            <a:endParaRPr lang="en-US" sz="1100"/>
          </a:p>
        </p:txBody>
      </p:sp>
      <p:sp>
        <p:nvSpPr>
          <p:cNvPr name="TextBox 62" id="62"/>
          <p:cNvSpPr txBox="true"/>
          <p:nvPr/>
        </p:nvSpPr>
        <p:spPr>
          <a:xfrm>
            <a:off x="977900" y="7137400"/>
            <a:ext cx="2476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Comunicación</a:t>
            </a:r>
            <a:endParaRPr lang="en-US" sz="1100"/>
          </a:p>
        </p:txBody>
      </p:sp>
      <p:sp>
        <p:nvSpPr>
          <p:cNvPr name="TextBox 63" id="63"/>
          <p:cNvSpPr txBox="true"/>
          <p:nvPr/>
        </p:nvSpPr>
        <p:spPr>
          <a:xfrm>
            <a:off x="3632200" y="7137400"/>
            <a:ext cx="370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Clara y estructurada</a:t>
            </a:r>
            <a:endParaRPr lang="en-US" sz="1100"/>
          </a:p>
        </p:txBody>
      </p:sp>
      <p:sp>
        <p:nvSpPr>
          <p:cNvPr name="TextBox 64" id="64"/>
          <p:cNvSpPr txBox="true"/>
          <p:nvPr/>
        </p:nvSpPr>
        <p:spPr>
          <a:xfrm>
            <a:off x="7518400" y="7137400"/>
            <a:ext cx="3175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Comprensible</a:t>
            </a:r>
            <a:endParaRPr lang="en-US" sz="1100"/>
          </a:p>
        </p:txBody>
      </p:sp>
      <p:sp>
        <p:nvSpPr>
          <p:cNvPr name="TextBox 65" id="65"/>
          <p:cNvSpPr txBox="true"/>
          <p:nvPr/>
        </p:nvSpPr>
        <p:spPr>
          <a:xfrm>
            <a:off x="10883900" y="7137400"/>
            <a:ext cx="210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Confusa</a:t>
            </a:r>
            <a:endParaRPr lang="en-US" sz="1100"/>
          </a:p>
        </p:txBody>
      </p:sp>
      <p:sp>
        <p:nvSpPr>
          <p:cNvPr name="TextBox 66" id="66"/>
          <p:cNvSpPr txBox="true"/>
          <p:nvPr/>
        </p:nvSpPr>
        <p:spPr>
          <a:xfrm>
            <a:off x="13169900" y="7137400"/>
            <a:ext cx="2082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Deficiente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946400"/>
            <a:ext cx="14490700" cy="39243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2959100"/>
            <a:ext cx="24130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3302000" y="2959100"/>
            <a:ext cx="39497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7264400" y="2959100"/>
            <a:ext cx="31242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0388600" y="2959100"/>
            <a:ext cx="27305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13119100" y="2959100"/>
            <a:ext cx="22225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89000" y="3505200"/>
            <a:ext cx="2413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3302000" y="3505200"/>
            <a:ext cx="3949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7264400" y="3505200"/>
            <a:ext cx="3124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10388600" y="3505200"/>
            <a:ext cx="2730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3119100" y="3505200"/>
            <a:ext cx="2222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889000" y="4445000"/>
            <a:ext cx="2413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3302000" y="4445000"/>
            <a:ext cx="3949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7264400" y="4445000"/>
            <a:ext cx="3124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0388600" y="4445000"/>
            <a:ext cx="2730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13119100" y="4445000"/>
            <a:ext cx="2222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89000" y="5372100"/>
            <a:ext cx="2413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3302000" y="5372100"/>
            <a:ext cx="3949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7264400" y="5372100"/>
            <a:ext cx="31242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10388600" y="5372100"/>
            <a:ext cx="2730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3119100" y="5372100"/>
            <a:ext cx="22225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889000" y="6299200"/>
            <a:ext cx="24130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3302000" y="6299200"/>
            <a:ext cx="3949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7264400" y="6299200"/>
            <a:ext cx="3124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0388600" y="6299200"/>
            <a:ext cx="2730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13119100" y="6299200"/>
            <a:ext cx="2222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876300" y="71501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1" id="31"/>
          <p:cNvSpPr txBox="true"/>
          <p:nvPr/>
        </p:nvSpPr>
        <p:spPr>
          <a:xfrm>
            <a:off x="876300" y="1320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Rúbrica – Aporte individual en trabajo grupal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76300" y="22098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Evaluación de contribución personal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977900" y="3048000"/>
            <a:ext cx="2235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Criterio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3390900" y="3048000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Excelente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7340600" y="3048000"/>
            <a:ext cx="294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Adecuado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10477500" y="3048000"/>
            <a:ext cx="255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Básico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3208000" y="3048000"/>
            <a:ext cx="2044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Insuficiente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977900" y="3594100"/>
            <a:ext cx="2235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Participación activa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3390900" y="3594100"/>
            <a:ext cx="3771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Lidera y aporta consistentemente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7340600" y="3594100"/>
            <a:ext cx="29464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Participa de forma regular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0477500" y="3594100"/>
            <a:ext cx="255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Participación mínima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13208000" y="3594100"/>
            <a:ext cx="2044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No participa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977900" y="4533900"/>
            <a:ext cx="2235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Responsabilidad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3390900" y="4533900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Cumple tiempos y compromisos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7340600" y="4533900"/>
            <a:ext cx="294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Cumple parcialmente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0477500" y="4533900"/>
            <a:ext cx="255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Incumple en ocasiones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13208000" y="4533900"/>
            <a:ext cx="2044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Incumple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977900" y="5461000"/>
            <a:ext cx="2235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Dominio del trabajo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3390900" y="5461000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Explica y defiende su aporte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7340600" y="5461000"/>
            <a:ext cx="294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Explica con dudas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10477500" y="5461000"/>
            <a:ext cx="255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Explicación superficial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13208000" y="5461000"/>
            <a:ext cx="2044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No puede explicar</a:t>
            </a:r>
            <a:endParaRPr lang="en-US" sz="1100"/>
          </a:p>
        </p:txBody>
      </p:sp>
      <p:sp>
        <p:nvSpPr>
          <p:cNvPr name="TextBox 53" id="53"/>
          <p:cNvSpPr txBox="true"/>
          <p:nvPr/>
        </p:nvSpPr>
        <p:spPr>
          <a:xfrm>
            <a:off x="977900" y="6388100"/>
            <a:ext cx="2235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ético de IA</a:t>
            </a:r>
            <a:endParaRPr lang="en-US" sz="1100"/>
          </a:p>
        </p:txBody>
      </p:sp>
      <p:sp>
        <p:nvSpPr>
          <p:cNvPr name="TextBox 54" id="54"/>
          <p:cNvSpPr txBox="true"/>
          <p:nvPr/>
        </p:nvSpPr>
        <p:spPr>
          <a:xfrm>
            <a:off x="3390900" y="6388100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IA declarada y justificada</a:t>
            </a:r>
            <a:endParaRPr lang="en-US" sz="1100"/>
          </a:p>
        </p:txBody>
      </p:sp>
      <p:sp>
        <p:nvSpPr>
          <p:cNvPr name="TextBox 55" id="55"/>
          <p:cNvSpPr txBox="true"/>
          <p:nvPr/>
        </p:nvSpPr>
        <p:spPr>
          <a:xfrm>
            <a:off x="7340600" y="6388100"/>
            <a:ext cx="2946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Declaración parcial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10477500" y="6388100"/>
            <a:ext cx="2552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Poco clara</a:t>
            </a:r>
            <a:endParaRPr lang="en-US" sz="1100"/>
          </a:p>
        </p:txBody>
      </p:sp>
      <p:sp>
        <p:nvSpPr>
          <p:cNvPr name="TextBox 57" id="57"/>
          <p:cNvSpPr txBox="true"/>
          <p:nvPr/>
        </p:nvSpPr>
        <p:spPr>
          <a:xfrm>
            <a:off x="13208000" y="6388100"/>
            <a:ext cx="2044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No declarada</a:t>
            </a:r>
            <a:endParaRPr lang="en-US" sz="1100"/>
          </a:p>
        </p:txBody>
      </p:sp>
      <p:sp>
        <p:nvSpPr>
          <p:cNvPr name="TextBox 58" id="58"/>
          <p:cNvSpPr txBox="true"/>
          <p:nvPr/>
        </p:nvSpPr>
        <p:spPr>
          <a:xfrm>
            <a:off x="1130300" y="71501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2E86DE"/>
                </a:solidFill>
                <a:latin typeface="&quot;Nunito Sans&quot;"/>
              </a:rPr>
              <a:t>Un mismo producto grupal puede generar calificaciones distintas, según el aporte individual evidenciado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425700"/>
            <a:ext cx="14490700" cy="5232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889000" y="2438400"/>
            <a:ext cx="26670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3556000" y="2438400"/>
            <a:ext cx="37084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7277100" y="2438400"/>
            <a:ext cx="31750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8" id="8"/>
          <p:cNvSpPr/>
          <p:nvPr/>
        </p:nvSpPr>
        <p:spPr>
          <a:xfrm>
            <a:off x="10464800" y="2438400"/>
            <a:ext cx="28067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9" id="9"/>
          <p:cNvSpPr/>
          <p:nvPr/>
        </p:nvSpPr>
        <p:spPr>
          <a:xfrm>
            <a:off x="13271500" y="2438400"/>
            <a:ext cx="2070100" cy="546100"/>
          </a:xfrm>
          <a:prstGeom prst="rect">
            <a:avLst/>
          </a:prstGeom>
          <a:solidFill>
            <a:srgbClr val="C7EDFF"/>
          </a:solidFill>
          <a:ln w="12700">
            <a:solidFill>
              <a:srgbClr val="3593BF"/>
            </a:solidFill>
          </a:ln>
        </p:spPr>
      </p:sp>
      <p:sp>
        <p:nvSpPr>
          <p:cNvPr name="AutoShape 10" id="10"/>
          <p:cNvSpPr/>
          <p:nvPr/>
        </p:nvSpPr>
        <p:spPr>
          <a:xfrm>
            <a:off x="889000" y="2997200"/>
            <a:ext cx="2667000" cy="1308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1" id="11"/>
          <p:cNvSpPr/>
          <p:nvPr/>
        </p:nvSpPr>
        <p:spPr>
          <a:xfrm>
            <a:off x="3556000" y="2997200"/>
            <a:ext cx="3708400" cy="1308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2" id="12"/>
          <p:cNvSpPr/>
          <p:nvPr/>
        </p:nvSpPr>
        <p:spPr>
          <a:xfrm>
            <a:off x="7277100" y="2997200"/>
            <a:ext cx="3175000" cy="1308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3" id="13"/>
          <p:cNvSpPr/>
          <p:nvPr/>
        </p:nvSpPr>
        <p:spPr>
          <a:xfrm>
            <a:off x="10464800" y="2997200"/>
            <a:ext cx="2806700" cy="1308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4" id="14"/>
          <p:cNvSpPr/>
          <p:nvPr/>
        </p:nvSpPr>
        <p:spPr>
          <a:xfrm>
            <a:off x="13271500" y="2997200"/>
            <a:ext cx="2070100" cy="1308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5" id="15"/>
          <p:cNvSpPr/>
          <p:nvPr/>
        </p:nvSpPr>
        <p:spPr>
          <a:xfrm>
            <a:off x="889000" y="4305300"/>
            <a:ext cx="2667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6" id="16"/>
          <p:cNvSpPr/>
          <p:nvPr/>
        </p:nvSpPr>
        <p:spPr>
          <a:xfrm>
            <a:off x="3556000" y="4305300"/>
            <a:ext cx="37084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7" id="17"/>
          <p:cNvSpPr/>
          <p:nvPr/>
        </p:nvSpPr>
        <p:spPr>
          <a:xfrm>
            <a:off x="7277100" y="4305300"/>
            <a:ext cx="3175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8" id="18"/>
          <p:cNvSpPr/>
          <p:nvPr/>
        </p:nvSpPr>
        <p:spPr>
          <a:xfrm>
            <a:off x="10464800" y="4305300"/>
            <a:ext cx="2806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19" id="19"/>
          <p:cNvSpPr/>
          <p:nvPr/>
        </p:nvSpPr>
        <p:spPr>
          <a:xfrm>
            <a:off x="13271500" y="4305300"/>
            <a:ext cx="20701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0" id="20"/>
          <p:cNvSpPr/>
          <p:nvPr/>
        </p:nvSpPr>
        <p:spPr>
          <a:xfrm>
            <a:off x="889000" y="5232400"/>
            <a:ext cx="2667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1" id="21"/>
          <p:cNvSpPr/>
          <p:nvPr/>
        </p:nvSpPr>
        <p:spPr>
          <a:xfrm>
            <a:off x="3556000" y="5232400"/>
            <a:ext cx="37084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2" id="22"/>
          <p:cNvSpPr/>
          <p:nvPr/>
        </p:nvSpPr>
        <p:spPr>
          <a:xfrm>
            <a:off x="7277100" y="5232400"/>
            <a:ext cx="3175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3" id="23"/>
          <p:cNvSpPr/>
          <p:nvPr/>
        </p:nvSpPr>
        <p:spPr>
          <a:xfrm>
            <a:off x="10464800" y="5232400"/>
            <a:ext cx="2806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4" id="24"/>
          <p:cNvSpPr/>
          <p:nvPr/>
        </p:nvSpPr>
        <p:spPr>
          <a:xfrm>
            <a:off x="13271500" y="5232400"/>
            <a:ext cx="20701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5" id="25"/>
          <p:cNvSpPr/>
          <p:nvPr/>
        </p:nvSpPr>
        <p:spPr>
          <a:xfrm>
            <a:off x="889000" y="6172200"/>
            <a:ext cx="2667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6" id="26"/>
          <p:cNvSpPr/>
          <p:nvPr/>
        </p:nvSpPr>
        <p:spPr>
          <a:xfrm>
            <a:off x="3556000" y="6172200"/>
            <a:ext cx="37084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7" id="27"/>
          <p:cNvSpPr/>
          <p:nvPr/>
        </p:nvSpPr>
        <p:spPr>
          <a:xfrm>
            <a:off x="7277100" y="6172200"/>
            <a:ext cx="31750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8" id="28"/>
          <p:cNvSpPr/>
          <p:nvPr/>
        </p:nvSpPr>
        <p:spPr>
          <a:xfrm>
            <a:off x="10464800" y="6172200"/>
            <a:ext cx="28067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29" id="29"/>
          <p:cNvSpPr/>
          <p:nvPr/>
        </p:nvSpPr>
        <p:spPr>
          <a:xfrm>
            <a:off x="13271500" y="6172200"/>
            <a:ext cx="2070100" cy="927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889000" y="7099300"/>
            <a:ext cx="26670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3556000" y="7099300"/>
            <a:ext cx="37084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2" id="32"/>
          <p:cNvSpPr/>
          <p:nvPr/>
        </p:nvSpPr>
        <p:spPr>
          <a:xfrm>
            <a:off x="7277100" y="7099300"/>
            <a:ext cx="31750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3" id="33"/>
          <p:cNvSpPr/>
          <p:nvPr/>
        </p:nvSpPr>
        <p:spPr>
          <a:xfrm>
            <a:off x="10464800" y="7099300"/>
            <a:ext cx="2806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AutoShape 34" id="34"/>
          <p:cNvSpPr/>
          <p:nvPr/>
        </p:nvSpPr>
        <p:spPr>
          <a:xfrm>
            <a:off x="13271500" y="7099300"/>
            <a:ext cx="20701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3593BF"/>
            </a:solidFill>
          </a:ln>
        </p:spPr>
      </p:sp>
      <p:sp>
        <p:nvSpPr>
          <p:cNvPr name="TextBox 35" id="35"/>
          <p:cNvSpPr txBox="true"/>
          <p:nvPr/>
        </p:nvSpPr>
        <p:spPr>
          <a:xfrm>
            <a:off x="876300" y="800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Rúbrica – Actividades individuales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76300" y="16891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Criterios de evaluación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977900" y="2527300"/>
            <a:ext cx="2489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Criterio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3644900" y="2527300"/>
            <a:ext cx="3530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2ECC71"/>
                </a:solidFill>
                <a:latin typeface="&quot;Nunito Sans&quot;"/>
              </a:rPr>
              <a:t>Excelente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7366000" y="2527300"/>
            <a:ext cx="3009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A6CE39"/>
                </a:solidFill>
                <a:latin typeface="&quot;Nunito Sans&quot;"/>
              </a:rPr>
              <a:t>Adecuado</a:t>
            </a:r>
            <a:endParaRPr lang="en-US" sz="1100"/>
          </a:p>
        </p:txBody>
      </p:sp>
      <p:sp>
        <p:nvSpPr>
          <p:cNvPr name="TextBox 40" id="40"/>
          <p:cNvSpPr txBox="true"/>
          <p:nvPr/>
        </p:nvSpPr>
        <p:spPr>
          <a:xfrm>
            <a:off x="10553700" y="2527300"/>
            <a:ext cx="262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FFB74D"/>
                </a:solidFill>
                <a:latin typeface="&quot;Nunito Sans&quot;"/>
              </a:rPr>
              <a:t>Básico</a:t>
            </a:r>
            <a:endParaRPr lang="en-US" sz="1100"/>
          </a:p>
        </p:txBody>
      </p:sp>
      <p:sp>
        <p:nvSpPr>
          <p:cNvPr name="TextBox 41" id="41"/>
          <p:cNvSpPr txBox="true"/>
          <p:nvPr/>
        </p:nvSpPr>
        <p:spPr>
          <a:xfrm>
            <a:off x="13360400" y="2527300"/>
            <a:ext cx="189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E74C3C"/>
                </a:solidFill>
                <a:latin typeface="&quot;Nunito Sans&quot;"/>
              </a:rPr>
              <a:t>Insuficiente</a:t>
            </a:r>
            <a:endParaRPr lang="en-US" sz="1100"/>
          </a:p>
        </p:txBody>
      </p:sp>
      <p:sp>
        <p:nvSpPr>
          <p:cNvPr name="TextBox 42" id="42"/>
          <p:cNvSpPr txBox="true"/>
          <p:nvPr/>
        </p:nvSpPr>
        <p:spPr>
          <a:xfrm>
            <a:off x="977900" y="3086100"/>
            <a:ext cx="2489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Comprensión conceptual</a:t>
            </a:r>
            <a:endParaRPr lang="en-US" sz="1100"/>
          </a:p>
        </p:txBody>
      </p:sp>
      <p:sp>
        <p:nvSpPr>
          <p:cNvPr name="TextBox 43" id="43"/>
          <p:cNvSpPr txBox="true"/>
          <p:nvPr/>
        </p:nvSpPr>
        <p:spPr>
          <a:xfrm>
            <a:off x="3644900" y="3086100"/>
            <a:ext cx="3530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Aplica conceptos correctamente y con profundidad</a:t>
            </a:r>
            <a:endParaRPr lang="en-US" sz="1100"/>
          </a:p>
        </p:txBody>
      </p:sp>
      <p:sp>
        <p:nvSpPr>
          <p:cNvPr name="TextBox 44" id="44"/>
          <p:cNvSpPr txBox="true"/>
          <p:nvPr/>
        </p:nvSpPr>
        <p:spPr>
          <a:xfrm>
            <a:off x="7366000" y="3086100"/>
            <a:ext cx="3009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Aplica conceptos con leves imprecisiones</a:t>
            </a:r>
            <a:endParaRPr lang="en-US" sz="1100"/>
          </a:p>
        </p:txBody>
      </p:sp>
      <p:sp>
        <p:nvSpPr>
          <p:cNvPr name="TextBox 45" id="45"/>
          <p:cNvSpPr txBox="true"/>
          <p:nvPr/>
        </p:nvSpPr>
        <p:spPr>
          <a:xfrm>
            <a:off x="10553700" y="3086100"/>
            <a:ext cx="262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superficial de conceptos</a:t>
            </a:r>
            <a:endParaRPr lang="en-US" sz="1100"/>
          </a:p>
        </p:txBody>
      </p:sp>
      <p:sp>
        <p:nvSpPr>
          <p:cNvPr name="TextBox 46" id="46"/>
          <p:cNvSpPr txBox="true"/>
          <p:nvPr/>
        </p:nvSpPr>
        <p:spPr>
          <a:xfrm>
            <a:off x="13360400" y="3086100"/>
            <a:ext cx="18923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Errores conceptuales</a:t>
            </a:r>
            <a:endParaRPr lang="en-US" sz="1100"/>
          </a:p>
        </p:txBody>
      </p:sp>
      <p:sp>
        <p:nvSpPr>
          <p:cNvPr name="TextBox 47" id="47"/>
          <p:cNvSpPr txBox="true"/>
          <p:nvPr/>
        </p:nvSpPr>
        <p:spPr>
          <a:xfrm>
            <a:off x="977900" y="4394200"/>
            <a:ext cx="2489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Análisis y criterio profesional</a:t>
            </a:r>
            <a:endParaRPr lang="en-US" sz="1100"/>
          </a:p>
        </p:txBody>
      </p:sp>
      <p:sp>
        <p:nvSpPr>
          <p:cNvPr name="TextBox 48" id="48"/>
          <p:cNvSpPr txBox="true"/>
          <p:nvPr/>
        </p:nvSpPr>
        <p:spPr>
          <a:xfrm>
            <a:off x="3644900" y="4394200"/>
            <a:ext cx="3530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Argumenta decisiones con criterio técnico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7366000" y="4394200"/>
            <a:ext cx="3009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Argumentos aceptables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10553700" y="4394200"/>
            <a:ext cx="262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Argumentos débiles o descriptivos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13360400" y="4394200"/>
            <a:ext cx="189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Sin análisis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977900" y="5321300"/>
            <a:ext cx="24892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Ética y responsabilidad</a:t>
            </a:r>
            <a:endParaRPr lang="en-US" sz="1100"/>
          </a:p>
        </p:txBody>
      </p:sp>
      <p:sp>
        <p:nvSpPr>
          <p:cNvPr name="TextBox 53" id="53"/>
          <p:cNvSpPr txBox="true"/>
          <p:nvPr/>
        </p:nvSpPr>
        <p:spPr>
          <a:xfrm>
            <a:off x="3644900" y="5321300"/>
            <a:ext cx="3530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Evidencia reflexión ética clara</a:t>
            </a:r>
            <a:endParaRPr lang="en-US" sz="1100"/>
          </a:p>
        </p:txBody>
      </p:sp>
      <p:sp>
        <p:nvSpPr>
          <p:cNvPr name="TextBox 54" id="54"/>
          <p:cNvSpPr txBox="true"/>
          <p:nvPr/>
        </p:nvSpPr>
        <p:spPr>
          <a:xfrm>
            <a:off x="7366000" y="5321300"/>
            <a:ext cx="3009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Reflexión parcial</a:t>
            </a:r>
            <a:endParaRPr lang="en-US" sz="1100"/>
          </a:p>
        </p:txBody>
      </p:sp>
      <p:sp>
        <p:nvSpPr>
          <p:cNvPr name="TextBox 55" id="55"/>
          <p:cNvSpPr txBox="true"/>
          <p:nvPr/>
        </p:nvSpPr>
        <p:spPr>
          <a:xfrm>
            <a:off x="10553700" y="5321300"/>
            <a:ext cx="262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Mención superficial</a:t>
            </a:r>
            <a:endParaRPr lang="en-US" sz="1100"/>
          </a:p>
        </p:txBody>
      </p:sp>
      <p:sp>
        <p:nvSpPr>
          <p:cNvPr name="TextBox 56" id="56"/>
          <p:cNvSpPr txBox="true"/>
          <p:nvPr/>
        </p:nvSpPr>
        <p:spPr>
          <a:xfrm>
            <a:off x="13360400" y="5321300"/>
            <a:ext cx="189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No evidencia</a:t>
            </a:r>
            <a:endParaRPr lang="en-US" sz="1100"/>
          </a:p>
        </p:txBody>
      </p:sp>
      <p:sp>
        <p:nvSpPr>
          <p:cNvPr name="TextBox 57" id="57"/>
          <p:cNvSpPr txBox="true"/>
          <p:nvPr/>
        </p:nvSpPr>
        <p:spPr>
          <a:xfrm>
            <a:off x="977900" y="6261100"/>
            <a:ext cx="2489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de IA (si aplica)</a:t>
            </a:r>
            <a:endParaRPr lang="en-US" sz="1100"/>
          </a:p>
        </p:txBody>
      </p:sp>
      <p:sp>
        <p:nvSpPr>
          <p:cNvPr name="TextBox 58" id="58"/>
          <p:cNvSpPr txBox="true"/>
          <p:nvPr/>
        </p:nvSpPr>
        <p:spPr>
          <a:xfrm>
            <a:off x="3644900" y="6261100"/>
            <a:ext cx="3530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IA declarada y usada críticamente</a:t>
            </a:r>
            <a:endParaRPr lang="en-US" sz="1100"/>
          </a:p>
        </p:txBody>
      </p:sp>
      <p:sp>
        <p:nvSpPr>
          <p:cNvPr name="TextBox 59" id="59"/>
          <p:cNvSpPr txBox="true"/>
          <p:nvPr/>
        </p:nvSpPr>
        <p:spPr>
          <a:xfrm>
            <a:off x="7366000" y="6261100"/>
            <a:ext cx="3009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IA declarada parcialmente</a:t>
            </a:r>
            <a:endParaRPr lang="en-US" sz="1100"/>
          </a:p>
        </p:txBody>
      </p:sp>
      <p:sp>
        <p:nvSpPr>
          <p:cNvPr name="TextBox 60" id="60"/>
          <p:cNvSpPr txBox="true"/>
          <p:nvPr/>
        </p:nvSpPr>
        <p:spPr>
          <a:xfrm>
            <a:off x="10553700" y="6261100"/>
            <a:ext cx="262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Uso poco claro</a:t>
            </a:r>
            <a:endParaRPr lang="en-US" sz="1100"/>
          </a:p>
        </p:txBody>
      </p:sp>
      <p:sp>
        <p:nvSpPr>
          <p:cNvPr name="TextBox 61" id="61"/>
          <p:cNvSpPr txBox="true"/>
          <p:nvPr/>
        </p:nvSpPr>
        <p:spPr>
          <a:xfrm>
            <a:off x="13360400" y="6261100"/>
            <a:ext cx="189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IA no declarada</a:t>
            </a:r>
            <a:endParaRPr lang="en-US" sz="1100"/>
          </a:p>
        </p:txBody>
      </p:sp>
      <p:sp>
        <p:nvSpPr>
          <p:cNvPr name="TextBox 62" id="62"/>
          <p:cNvSpPr txBox="true"/>
          <p:nvPr/>
        </p:nvSpPr>
        <p:spPr>
          <a:xfrm>
            <a:off x="977900" y="7188200"/>
            <a:ext cx="2489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Comunicación escrita</a:t>
            </a:r>
            <a:endParaRPr lang="en-US" sz="1100"/>
          </a:p>
        </p:txBody>
      </p:sp>
      <p:sp>
        <p:nvSpPr>
          <p:cNvPr name="TextBox 63" id="63"/>
          <p:cNvSpPr txBox="true"/>
          <p:nvPr/>
        </p:nvSpPr>
        <p:spPr>
          <a:xfrm>
            <a:off x="3644900" y="7188200"/>
            <a:ext cx="3530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Clara, estructurada, técnica</a:t>
            </a:r>
            <a:endParaRPr lang="en-US" sz="1100"/>
          </a:p>
        </p:txBody>
      </p:sp>
      <p:sp>
        <p:nvSpPr>
          <p:cNvPr name="TextBox 64" id="64"/>
          <p:cNvSpPr txBox="true"/>
          <p:nvPr/>
        </p:nvSpPr>
        <p:spPr>
          <a:xfrm>
            <a:off x="7366000" y="7188200"/>
            <a:ext cx="3009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Comprensible</a:t>
            </a:r>
            <a:endParaRPr lang="en-US" sz="1100"/>
          </a:p>
        </p:txBody>
      </p:sp>
      <p:sp>
        <p:nvSpPr>
          <p:cNvPr name="TextBox 65" id="65"/>
          <p:cNvSpPr txBox="true"/>
          <p:nvPr/>
        </p:nvSpPr>
        <p:spPr>
          <a:xfrm>
            <a:off x="10553700" y="7188200"/>
            <a:ext cx="262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Desordenada</a:t>
            </a:r>
            <a:endParaRPr lang="en-US" sz="1100"/>
          </a:p>
        </p:txBody>
      </p:sp>
      <p:sp>
        <p:nvSpPr>
          <p:cNvPr name="TextBox 66" id="66"/>
          <p:cNvSpPr txBox="true"/>
          <p:nvPr/>
        </p:nvSpPr>
        <p:spPr>
          <a:xfrm>
            <a:off x="13360400" y="7188200"/>
            <a:ext cx="1892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Deficiente</a:t>
            </a:r>
            <a:endParaRPr lang="en-US" sz="1100"/>
          </a:p>
        </p:txBody>
      </p:sp>
      <p:sp>
        <p:nvSpPr>
          <p:cNvPr name="TextBox 67" id="67"/>
          <p:cNvSpPr txBox="true"/>
          <p:nvPr/>
        </p:nvSpPr>
        <p:spPr>
          <a:xfrm>
            <a:off x="876300" y="79502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El peso de cada criterio se ajusta según la actividad, pero la lógica de evaluación se mantiene constante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3162300"/>
            <a:ext cx="14490700" cy="441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3162300"/>
            <a:ext cx="3378200" cy="441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3162300"/>
            <a:ext cx="558800" cy="5588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7" id="7"/>
          <p:cNvSpPr/>
          <p:nvPr/>
        </p:nvSpPr>
        <p:spPr>
          <a:xfrm>
            <a:off x="4572000" y="3162300"/>
            <a:ext cx="3378200" cy="441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4572000" y="3162300"/>
            <a:ext cx="558800" cy="5588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9" id="9"/>
          <p:cNvSpPr/>
          <p:nvPr/>
        </p:nvSpPr>
        <p:spPr>
          <a:xfrm>
            <a:off x="8280400" y="3162300"/>
            <a:ext cx="3378200" cy="441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8280400" y="3162300"/>
            <a:ext cx="558800" cy="5588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1" id="11"/>
          <p:cNvSpPr/>
          <p:nvPr/>
        </p:nvSpPr>
        <p:spPr>
          <a:xfrm>
            <a:off x="11976100" y="3162300"/>
            <a:ext cx="3378200" cy="441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11976100" y="3162300"/>
            <a:ext cx="558800" cy="5588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1536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Resultados de aprendizaje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24257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Al finalizar esta clase el estudiante será capaz de: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689100" y="3251200"/>
            <a:ext cx="25654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Explicar qué es la gestión de proyectos de software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5397500" y="3251200"/>
            <a:ext cx="25654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Identificar causas comunes de fracaso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9093200" y="3251200"/>
            <a:ext cx="25654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Reconocer trade-offs entre alcance, tiempo y costo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2801600" y="3251200"/>
            <a:ext cx="25654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Analizar un caso real y proponer acciones correctivas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689100" y="5245100"/>
            <a:ext cx="25654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Comprender el concepto, sus elementos clave y diferenciarlo del desarrollo técnico puro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397500" y="5245100"/>
            <a:ext cx="25654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Reconocer síntomas típicos, analizar causas raíz de proyectos fallidos y áreas de gestión afectadas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9093200" y="5702300"/>
            <a:ext cx="25654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Entender la triple restricción, sus implicaciones y la toma de decisiones conscientes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2801600" y="5702300"/>
            <a:ext cx="25654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Aplicar criterio profesional en escenarios de gestión y fundamentar recomendaciones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352800"/>
            <a:ext cx="177800" cy="177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00" y="3327400"/>
            <a:ext cx="241300" cy="241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3327400"/>
            <a:ext cx="241300" cy="241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6600" y="33528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2578100"/>
            <a:ext cx="9283700" cy="4927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2578100"/>
            <a:ext cx="2921000" cy="4927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7" id="7"/>
          <p:cNvSpPr/>
          <p:nvPr/>
        </p:nvSpPr>
        <p:spPr>
          <a:xfrm>
            <a:off x="63246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8" id="8"/>
          <p:cNvSpPr/>
          <p:nvPr/>
        </p:nvSpPr>
        <p:spPr>
          <a:xfrm>
            <a:off x="9258300" y="2578100"/>
            <a:ext cx="2921000" cy="4927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9" id="9"/>
          <p:cNvSpPr/>
          <p:nvPr/>
        </p:nvSpPr>
        <p:spPr>
          <a:xfrm>
            <a:off x="95123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10" id="10"/>
          <p:cNvSpPr/>
          <p:nvPr/>
        </p:nvSpPr>
        <p:spPr>
          <a:xfrm>
            <a:off x="12433300" y="2578100"/>
            <a:ext cx="2921000" cy="4927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1" id="11"/>
          <p:cNvSpPr/>
          <p:nvPr/>
        </p:nvSpPr>
        <p:spPr>
          <a:xfrm>
            <a:off x="12687300" y="2832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TextBox 12" id="12"/>
          <p:cNvSpPr txBox="true"/>
          <p:nvPr/>
        </p:nvSpPr>
        <p:spPr>
          <a:xfrm>
            <a:off x="6083300" y="9525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Conozcámonos como grupo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18415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Tiempo para presentación personal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324600" y="38354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Semestre que cursan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9512300" y="38354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Expectativa del curso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2687300" y="3835400"/>
            <a:ext cx="2413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Experiencia en proyecto real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324600" y="4927600"/>
            <a:ext cx="24130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Indica en qué semestre académico te encuentras actualmente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9512300" y="4927600"/>
            <a:ext cx="2413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¿Qué esperas aprender o lograr en esta asignatura?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2687300" y="5372100"/>
            <a:ext cx="2413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¿Has participado en un proyecto real de software? Comparte brevemente tu experiencia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00" y="3086100"/>
            <a:ext cx="241300" cy="241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300" y="3086100"/>
            <a:ext cx="241300" cy="241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1300" y="30861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3416300"/>
            <a:ext cx="9283700" cy="392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34163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48768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083300" y="63373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6083300" y="17907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Desarrollo ≠ Gestión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83300" y="26797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Hacer mucho no implica lograr bien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83300" y="34163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Desarrollo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83300" y="48768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Gestión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63373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Éxito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83300" y="40386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Construir el producto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083300" y="54991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Decidir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,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coordinar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,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comunicar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,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mitigar riesgos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83300" y="69596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2ECC71"/>
                </a:solidFill>
                <a:latin typeface="&quot;Nunito Sans&quot;"/>
              </a:rPr>
              <a:t>Éxito = valor + restricciones (tiempo/costo/alcance)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8" r="198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2921000"/>
            <a:ext cx="9283700" cy="3441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2921000"/>
            <a:ext cx="2921000" cy="34417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7" id="7"/>
          <p:cNvSpPr/>
          <p:nvPr/>
        </p:nvSpPr>
        <p:spPr>
          <a:xfrm>
            <a:off x="4051300" y="2921000"/>
            <a:ext cx="2921000" cy="34417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7239000" y="2921000"/>
            <a:ext cx="2921000" cy="34417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20320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¿Qué es un proyecto?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130300" y="3822700"/>
            <a:ext cx="2413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Es temporal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305300" y="38227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Resultado único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7493000" y="3822700"/>
            <a:ext cx="2413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Alta incertidumbre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76300" y="66421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Diferencia clave: proyecto vs operación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3175000"/>
            <a:ext cx="2413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FF8C00"/>
                </a:solidFill>
                <a:latin typeface="&quot;Nunito Sans&quot;"/>
              </a:rPr>
              <a:t>⏰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44450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tiene inicio y fin definidos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05300" y="3175000"/>
            <a:ext cx="2413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FFD700"/>
                </a:solidFill>
                <a:ea typeface="&quot;Nunito Sans&quot;"/>
              </a:rPr>
              <a:t>★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4305300" y="49022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produce un entregable específico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7493000" y="3175000"/>
            <a:ext cx="2413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1E90FF"/>
                </a:solidFill>
                <a:ea typeface="&quot;Nunito Sans&quot;"/>
              </a:rPr>
              <a:t>❓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493000" y="53594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especialmente en software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1422400"/>
            <a:ext cx="9283700" cy="623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1422400"/>
            <a:ext cx="92837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3086100"/>
            <a:ext cx="92837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083300" y="4749800"/>
            <a:ext cx="92837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6083300" y="6400800"/>
            <a:ext cx="92837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6083300" y="7912100"/>
            <a:ext cx="12700" cy="3302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1" id="11"/>
          <p:cNvSpPr txBox="true"/>
          <p:nvPr/>
        </p:nvSpPr>
        <p:spPr>
          <a:xfrm>
            <a:off x="6083300" y="622300"/>
            <a:ext cx="9283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500" b="true">
                <a:solidFill>
                  <a:srgbClr val="000000"/>
                </a:solidFill>
                <a:latin typeface="&quot;Nunito Sans&quot;"/>
              </a:rPr>
              <a:t>¿Por qué el software es especial?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83300" y="14224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000000"/>
                </a:solidFill>
                <a:latin typeface="&quot;Nunito Sans&quot;"/>
              </a:rPr>
              <a:t>Requisitos volátiles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30861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000000"/>
                </a:solidFill>
                <a:latin typeface="&quot;Nunito Sans&quot;"/>
              </a:rPr>
              <a:t>Producto intangible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83300" y="47498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000000"/>
                </a:solidFill>
                <a:latin typeface="&quot;Nunito Sans&quot;"/>
              </a:rPr>
              <a:t>Complejidad dual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083300" y="64008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600" b="true">
                <a:solidFill>
                  <a:srgbClr val="000000"/>
                </a:solidFill>
                <a:latin typeface="&quot;Nunito Sans&quot;"/>
              </a:rPr>
              <a:t>Dependencia de comunicación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83300" y="1993900"/>
            <a:ext cx="9283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00000"/>
                </a:solidFill>
                <a:latin typeface="&quot;Nunito Sans&quot;"/>
              </a:rPr>
              <a:t>Los requisitos cambian constantemente durante el desarrollo porque los usuarios descubren lo que realmente necesitan al ver el producto funcionando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083300" y="3657600"/>
            <a:ext cx="9283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00000"/>
                </a:solidFill>
                <a:latin typeface="&quot;Nunito Sans&quot;"/>
              </a:rPr>
              <a:t>A diferencia de la construcción física, el software no se "ve" hasta que funciona, lo que dificulta la estimación de tiempo y esfuerzo necesarios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083300" y="5308600"/>
            <a:ext cx="9283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00000"/>
                </a:solidFill>
                <a:latin typeface="&quot;Nunito Sans&quot;"/>
              </a:rPr>
              <a:t>Combina complejidad técnica (arquitectura, integración, código) con complejidad humana (comunicación, expectativas, coordinación de equipo)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083300" y="6972300"/>
            <a:ext cx="9283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00000"/>
                </a:solidFill>
                <a:latin typeface="&quot;Nunito Sans&quot;"/>
              </a:rPr>
              <a:t>El riesgo de fallo aumenta exponencialmente cuando hay mala comunicación entre desarrolladores, clientes y stakeholders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324600" y="7912100"/>
            <a:ext cx="9029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 i="true">
                <a:solidFill>
                  <a:srgbClr val="000000"/>
                </a:solidFill>
                <a:latin typeface="&quot;Nunito Sans&quot;"/>
              </a:rPr>
              <a:t>El software cambia porque el aprendizaje cambia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247900"/>
            <a:ext cx="14490700" cy="5575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247900"/>
            <a:ext cx="3429000" cy="28829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6" id="6"/>
          <p:cNvSpPr/>
          <p:nvPr/>
        </p:nvSpPr>
        <p:spPr>
          <a:xfrm>
            <a:off x="1143000" y="24892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3593BF"/>
          </a:solidFill>
        </p:spPr>
      </p:sp>
      <p:sp>
        <p:nvSpPr>
          <p:cNvPr name="AutoShape 7" id="7"/>
          <p:cNvSpPr/>
          <p:nvPr/>
        </p:nvSpPr>
        <p:spPr>
          <a:xfrm>
            <a:off x="4559300" y="2247900"/>
            <a:ext cx="3429000" cy="28829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4826000" y="24892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3593BF"/>
          </a:solidFill>
        </p:spPr>
      </p:sp>
      <p:sp>
        <p:nvSpPr>
          <p:cNvPr name="AutoShape 9" id="9"/>
          <p:cNvSpPr/>
          <p:nvPr/>
        </p:nvSpPr>
        <p:spPr>
          <a:xfrm>
            <a:off x="8242300" y="2247900"/>
            <a:ext cx="3429000" cy="28829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0" id="10"/>
          <p:cNvSpPr/>
          <p:nvPr/>
        </p:nvSpPr>
        <p:spPr>
          <a:xfrm>
            <a:off x="8509000" y="24892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3593BF"/>
          </a:solidFill>
        </p:spPr>
      </p:sp>
      <p:sp>
        <p:nvSpPr>
          <p:cNvPr name="AutoShape 11" id="11"/>
          <p:cNvSpPr/>
          <p:nvPr/>
        </p:nvSpPr>
        <p:spPr>
          <a:xfrm>
            <a:off x="11938000" y="2247900"/>
            <a:ext cx="3429000" cy="28829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2" id="12"/>
          <p:cNvSpPr/>
          <p:nvPr/>
        </p:nvSpPr>
        <p:spPr>
          <a:xfrm>
            <a:off x="12192000" y="24892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3593BF"/>
          </a:solidFill>
        </p:spPr>
      </p:sp>
      <p:sp>
        <p:nvSpPr>
          <p:cNvPr name="AutoShape 13" id="13"/>
          <p:cNvSpPr/>
          <p:nvPr/>
        </p:nvSpPr>
        <p:spPr>
          <a:xfrm>
            <a:off x="876300" y="5372100"/>
            <a:ext cx="14490700" cy="2438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4" id="14"/>
          <p:cNvSpPr/>
          <p:nvPr/>
        </p:nvSpPr>
        <p:spPr>
          <a:xfrm>
            <a:off x="1143000" y="5626100"/>
            <a:ext cx="723900" cy="723900"/>
          </a:xfrm>
          <a:prstGeom prst="roundRect">
            <a:avLst>
              <a:gd name="adj" fmla="val 49122"/>
            </a:avLst>
          </a:prstGeom>
          <a:solidFill>
            <a:srgbClr val="3593BF"/>
          </a:solidFill>
        </p:spPr>
      </p:sp>
      <p:sp>
        <p:nvSpPr>
          <p:cNvPr name="TextBox 15" id="15"/>
          <p:cNvSpPr txBox="true"/>
          <p:nvPr/>
        </p:nvSpPr>
        <p:spPr>
          <a:xfrm>
            <a:off x="876300" y="6604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00000"/>
                </a:solidFill>
                <a:latin typeface="&quot;Nunito Sans&quot;"/>
              </a:rPr>
              <a:t>Por qué fallan los proyectos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76300" y="1524000"/>
            <a:ext cx="14490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00000"/>
                </a:solidFill>
                <a:latin typeface="&quot;Nunito Sans&quot;"/>
              </a:rPr>
              <a:t>Síntomas típicos que afectan el éxito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34671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Retrasos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813300" y="34671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Sobrecostos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496300" y="3467100"/>
            <a:ext cx="29210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Re-trabajo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2192000" y="3467100"/>
            <a:ext cx="29210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Alcance descontrolado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6604000"/>
            <a:ext cx="13982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Conflictos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4076700"/>
            <a:ext cx="29210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entregas fuera de tiempo pactado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813300" y="4076700"/>
            <a:ext cx="29210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presupuesto excedido sin control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496300" y="4076700"/>
            <a:ext cx="29210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cambios constantes sin planificación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2192000" y="4521200"/>
            <a:ext cx="29210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scope creep sin gestión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30300" y="7213600"/>
            <a:ext cx="13982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mala comunicación de equipo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876300" y="8102600"/>
            <a:ext cx="14490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¿Cuál de estos síntomas han vivido?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743200"/>
            <a:ext cx="215900" cy="215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2730500"/>
            <a:ext cx="241300" cy="241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00" y="2730500"/>
            <a:ext cx="241300" cy="241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0" y="2743200"/>
            <a:ext cx="215900" cy="2159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58674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2565400"/>
            <a:ext cx="9283700" cy="4686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2565400"/>
            <a:ext cx="9283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876300" y="44069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76300" y="5867400"/>
            <a:ext cx="9283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876300" y="75311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0" id="10"/>
          <p:cNvSpPr txBox="true"/>
          <p:nvPr/>
        </p:nvSpPr>
        <p:spPr>
          <a:xfrm>
            <a:off x="876300" y="9398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Triple restricción + calidad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76300" y="18288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Alcance</a:t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 ↔ </a:t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Tiempo</a:t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 ↔ </a:t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Costo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76300" y="25654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Si la FECHA no cambia...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76300" y="44069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...algo debe cambiar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58674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Calidad se impacta si se 'aprieta' sin decidir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76300" y="3187700"/>
            <a:ext cx="9283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Si la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FECHA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 se mantiene, el proyecto debe ajustarse en otros frentes para cumplir el compromiso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76300" y="50292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...algo debe cambiar: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ALCANCE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 o 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COSTO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6300" y="6489700"/>
            <a:ext cx="9283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Evitar comprometer la calidad sin una decisión consciente; documentar trade-offs y comunicar al equipo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7531100"/>
            <a:ext cx="9029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Trade-off: decisiones conscientes sobre qué puede ceder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8" r="198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3365500"/>
            <a:ext cx="9283700" cy="2311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3365500"/>
            <a:ext cx="2921000" cy="2311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7" id="7"/>
          <p:cNvSpPr/>
          <p:nvPr/>
        </p:nvSpPr>
        <p:spPr>
          <a:xfrm>
            <a:off x="9258300" y="3365500"/>
            <a:ext cx="2921000" cy="2311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12433300" y="3365500"/>
            <a:ext cx="2921000" cy="2311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TextBox 9" id="9"/>
          <p:cNvSpPr txBox="true"/>
          <p:nvPr/>
        </p:nvSpPr>
        <p:spPr>
          <a:xfrm>
            <a:off x="6083300" y="17399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Escenario de decisión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83300" y="26289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Actividad corta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324600" y="3619500"/>
            <a:ext cx="24130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Cliente pide nueva funcionalidad crítica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512300" y="36195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La fecha NO cambia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2687300" y="3619500"/>
            <a:ext cx="2413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00000"/>
                </a:solidFill>
                <a:latin typeface="&quot;Nunito Sans&quot;"/>
              </a:rPr>
              <a:t>¿Qué haces?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83300" y="5969000"/>
            <a:ext cx="9283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Instrucciones: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 En parejas: analizar opciones, riesgos, comunicación al cliente (5 minutos)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3086100"/>
            <a:ext cx="14490700" cy="2895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3086100"/>
            <a:ext cx="4660900" cy="289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6" id="6"/>
          <p:cNvSpPr/>
          <p:nvPr/>
        </p:nvSpPr>
        <p:spPr>
          <a:xfrm>
            <a:off x="1130300" y="3340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7" id="7"/>
          <p:cNvSpPr/>
          <p:nvPr/>
        </p:nvSpPr>
        <p:spPr>
          <a:xfrm>
            <a:off x="5791200" y="3086100"/>
            <a:ext cx="4660900" cy="289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6045200" y="3340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9" id="9"/>
          <p:cNvSpPr/>
          <p:nvPr/>
        </p:nvSpPr>
        <p:spPr>
          <a:xfrm>
            <a:off x="10706100" y="3086100"/>
            <a:ext cx="4660900" cy="2895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0" id="10"/>
          <p:cNvSpPr/>
          <p:nvPr/>
        </p:nvSpPr>
        <p:spPr>
          <a:xfrm>
            <a:off x="10960100" y="33401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11" id="11"/>
          <p:cNvSpPr/>
          <p:nvPr/>
        </p:nvSpPr>
        <p:spPr>
          <a:xfrm>
            <a:off x="876300" y="62738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2197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¿Qué es PMBOK (en este curso)?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4343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Marco de gestión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45200" y="4343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Áreas clave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0960100" y="43434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Énfasis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49784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planificar + controlar con estructura definida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045200" y="49784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alcance, cronograma, costos, riesgos, comunicación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0960100" y="49784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trazabilidad y </a:t>
            </a:r>
            <a:r>
              <a:rPr lang="en-US" sz="1600" b="true">
                <a:solidFill>
                  <a:srgbClr val="1E90FF"/>
                </a:solidFill>
                <a:latin typeface="&quot;Nunito Sans&quot;"/>
              </a:rPr>
              <a:t>gobernanza</a:t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 del proyecto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62738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PMBOK como 'estructura para controlar' sin exceso de tecnicismos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3606800"/>
            <a:ext cx="215900" cy="215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3594100"/>
            <a:ext cx="241300" cy="241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36195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3136900"/>
            <a:ext cx="9283700" cy="2794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3136900"/>
            <a:ext cx="2921000" cy="27940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7" id="7"/>
          <p:cNvSpPr/>
          <p:nvPr/>
        </p:nvSpPr>
        <p:spPr>
          <a:xfrm>
            <a:off x="4051300" y="3136900"/>
            <a:ext cx="2921000" cy="27940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7239000" y="3136900"/>
            <a:ext cx="2921000" cy="27940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9" id="9"/>
          <p:cNvSpPr/>
          <p:nvPr/>
        </p:nvSpPr>
        <p:spPr>
          <a:xfrm>
            <a:off x="876300" y="62230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0" id="10"/>
          <p:cNvSpPr txBox="true"/>
          <p:nvPr/>
        </p:nvSpPr>
        <p:spPr>
          <a:xfrm>
            <a:off x="876300" y="22479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¿Qué es Scrum (en este curso)?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3390900"/>
            <a:ext cx="2413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Marco ágil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305300" y="3390900"/>
            <a:ext cx="2413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Roles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7493000" y="3390900"/>
            <a:ext cx="2413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Entregas incrementales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40259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iteraciones cortas + feedback continuo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305300" y="4025900"/>
            <a:ext cx="2413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Product Owner, Scrum Master, Equipo de Desarrollo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493000" y="49276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valor entregado cada iteración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6223000"/>
            <a:ext cx="9029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Scrum como 'motor de aprendizaje' y entrega rápida de valor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590800"/>
            <a:ext cx="14490700" cy="294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590800"/>
            <a:ext cx="4826000" cy="294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25908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5702300" y="2590800"/>
            <a:ext cx="4826000" cy="294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5702300" y="25908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10541000" y="2590800"/>
            <a:ext cx="4826000" cy="294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10541000" y="2590800"/>
            <a:ext cx="4826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876300" y="57150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2" id="12"/>
          <p:cNvSpPr/>
          <p:nvPr/>
        </p:nvSpPr>
        <p:spPr>
          <a:xfrm>
            <a:off x="876300" y="5715000"/>
            <a:ext cx="14490700" cy="15113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3" id="13"/>
          <p:cNvSpPr/>
          <p:nvPr/>
        </p:nvSpPr>
        <p:spPr>
          <a:xfrm>
            <a:off x="876300" y="7505700"/>
            <a:ext cx="12700" cy="3683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90800"/>
            <a:ext cx="4826000" cy="990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00" y="2590800"/>
            <a:ext cx="4826000" cy="990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2590800"/>
            <a:ext cx="4826000" cy="990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>
            <a:off x="876300" y="965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Por qué híbrido (Scrum + PMBOK)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6300" y="18542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Equilibrio entre adaptación y gobernanza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3898900"/>
            <a:ext cx="4318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2ECC71"/>
                </a:solidFill>
                <a:latin typeface="Poppins"/>
              </a:rPr>
              <a:t>Scrum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956300" y="3898900"/>
            <a:ext cx="3683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+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0795000" y="3898900"/>
            <a:ext cx="4318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2ECC71"/>
                </a:solidFill>
                <a:latin typeface="Poppins"/>
              </a:rPr>
              <a:t>PMBOK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59690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Híbrido: equilibrio entre adaptación y gobernanza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130300" y="4533900"/>
            <a:ext cx="4318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adaptarse al cambio y validar valor rápidamente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0795000" y="4533900"/>
            <a:ext cx="4318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plan suficiente + control y evidencia documentada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30300" y="75057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Planificamos para aprender rápido, no para adivinar perfecto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2971800"/>
            <a:ext cx="215900" cy="215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00" y="2971800"/>
            <a:ext cx="215900" cy="215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7000" y="29591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2717800"/>
            <a:ext cx="9283700" cy="392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27178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41783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083300" y="56388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9" id="9"/>
          <p:cNvSpPr txBox="true"/>
          <p:nvPr/>
        </p:nvSpPr>
        <p:spPr>
          <a:xfrm>
            <a:off x="6083300" y="18288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Qué construiremos este semestre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083300" y="27178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Un MVP/PoC funcional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083300" y="41783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Evidencias de gestión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83300" y="56388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Evaluación con trazabilidad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83300" y="33401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alcance acotado y entregable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083300" y="48006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backlog, cronograma, riesgos, comunicación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083300" y="62611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individual y grupal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83300" y="6934200"/>
            <a:ext cx="9283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E74C3C"/>
                </a:solidFill>
                <a:latin typeface="&quot;Nunito Sans&quot;"/>
              </a:rPr>
              <a:t>Prototipo funcional, NO producto final completo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908300"/>
            <a:ext cx="14490700" cy="334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908300"/>
            <a:ext cx="4660900" cy="3340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6" id="6"/>
          <p:cNvSpPr/>
          <p:nvPr/>
        </p:nvSpPr>
        <p:spPr>
          <a:xfrm>
            <a:off x="1130300" y="3162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7" id="7"/>
          <p:cNvSpPr/>
          <p:nvPr/>
        </p:nvSpPr>
        <p:spPr>
          <a:xfrm>
            <a:off x="5791200" y="2908300"/>
            <a:ext cx="4660900" cy="3340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8" id="8"/>
          <p:cNvSpPr/>
          <p:nvPr/>
        </p:nvSpPr>
        <p:spPr>
          <a:xfrm>
            <a:off x="6045200" y="3162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AutoShape 9" id="9"/>
          <p:cNvSpPr/>
          <p:nvPr/>
        </p:nvSpPr>
        <p:spPr>
          <a:xfrm>
            <a:off x="10706100" y="2908300"/>
            <a:ext cx="4660900" cy="33401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0" id="10"/>
          <p:cNvSpPr/>
          <p:nvPr/>
        </p:nvSpPr>
        <p:spPr>
          <a:xfrm>
            <a:off x="10960100" y="3162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3593BF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2019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00000"/>
                </a:solidFill>
                <a:latin typeface="&quot;Nunito Sans&quot;"/>
              </a:rPr>
              <a:t>Ejemplos de proyectos viables (MVP)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30300" y="4165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Sistema de turnos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045200" y="41656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Dashboard de indicadores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0960100" y="4165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Bot de soporte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48006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Gestión de colas para servicio universitario con notificaciones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45200" y="52578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Visualización de KPIs de un proceso académico o administrativo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960100" y="48006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00000"/>
                </a:solidFill>
                <a:latin typeface="&quot;Nunito Sans&quot;"/>
              </a:rPr>
              <a:t>FAQ automatizado con escalamiento a agente humano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76300" y="65405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Invitación: traigan sus ideas la próxima clase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3429000"/>
            <a:ext cx="215900" cy="215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3416300"/>
            <a:ext cx="241300" cy="241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0" y="34163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6083300" y="1282700"/>
            <a:ext cx="9283700" cy="6223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083300" y="1892300"/>
            <a:ext cx="2882900" cy="5600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083300" y="1892300"/>
            <a:ext cx="2882900" cy="5600700"/>
          </a:xfrm>
          <a:prstGeom prst="roundRect">
            <a:avLst>
              <a:gd name="adj" fmla="val 2202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083300" y="1892300"/>
            <a:ext cx="2882900" cy="2032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9" id="9"/>
          <p:cNvSpPr/>
          <p:nvPr/>
        </p:nvSpPr>
        <p:spPr>
          <a:xfrm>
            <a:off x="9283700" y="1587500"/>
            <a:ext cx="2882900" cy="5905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9283700" y="1587500"/>
            <a:ext cx="2882900" cy="5905500"/>
          </a:xfrm>
          <a:prstGeom prst="roundRect">
            <a:avLst>
              <a:gd name="adj" fmla="val 2202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9283700" y="1587500"/>
            <a:ext cx="2882900" cy="2032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AutoShape 12" id="12"/>
          <p:cNvSpPr/>
          <p:nvPr/>
        </p:nvSpPr>
        <p:spPr>
          <a:xfrm>
            <a:off x="12484100" y="1282700"/>
            <a:ext cx="2882900" cy="6223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12484100" y="1282700"/>
            <a:ext cx="2882900" cy="6223000"/>
          </a:xfrm>
          <a:prstGeom prst="roundRect">
            <a:avLst>
              <a:gd name="adj" fmla="val 2202"/>
            </a:avLst>
          </a:prstGeom>
          <a:solidFill>
            <a:srgbClr val="000000">
              <a:alpha val="0"/>
            </a:srgbClr>
          </a:solidFill>
        </p:spPr>
      </p:sp>
      <p:sp>
        <p:nvSpPr>
          <p:cNvPr name="AutoShape 14" id="14"/>
          <p:cNvSpPr/>
          <p:nvPr/>
        </p:nvSpPr>
        <p:spPr>
          <a:xfrm>
            <a:off x="12484100" y="1282700"/>
            <a:ext cx="2882900" cy="203200"/>
          </a:xfrm>
          <a:prstGeom prst="rect">
            <a:avLst/>
          </a:prstGeom>
          <a:solidFill>
            <a:srgbClr val="54C7FC"/>
          </a:solidFill>
        </p:spPr>
      </p:sp>
      <p:sp>
        <p:nvSpPr>
          <p:cNvPr name="TextBox 15" id="15"/>
          <p:cNvSpPr txBox="true"/>
          <p:nvPr/>
        </p:nvSpPr>
        <p:spPr>
          <a:xfrm>
            <a:off x="6083300" y="558800"/>
            <a:ext cx="928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200" b="true">
                <a:solidFill>
                  <a:srgbClr val="000000"/>
                </a:solidFill>
                <a:latin typeface="&quot;Nunito Sans&quot;"/>
              </a:rPr>
              <a:t>Tarea para la próxima clase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324600" y="2298700"/>
            <a:ext cx="2374900" cy="109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1. Lectura de casos de fracaso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9525000" y="1993900"/>
            <a:ext cx="23749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2. Visión general metodológica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2738100" y="1689100"/>
            <a:ext cx="23749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00000"/>
                </a:solidFill>
                <a:latin typeface="&quot;Nunito Sans&quot;"/>
              </a:rPr>
              <a:t>3. Entregar formato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24600" y="3543300"/>
            <a:ext cx="23749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Leer sobre estos proyectos fallidos famosos: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578600" y="4635500"/>
            <a:ext cx="2120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Denver Airport Baggage System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578600" y="5422900"/>
            <a:ext cx="2120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NHS National Programme for IT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578600" y="6197600"/>
            <a:ext cx="2120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Knight Capital (2012)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6578600" y="6985000"/>
            <a:ext cx="2120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Healthcare.gov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9525000" y="3606800"/>
            <a:ext cx="23749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Lectura breve: visión general Scrum + visión general PMBOK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2738100" y="2565400"/>
            <a:ext cx="23749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3 ideas + 2 dudas + 1 ejemplo de aplicación basado en los casos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083300" y="7734300"/>
            <a:ext cx="9283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Aprendizaje autónomo: tus preguntas serán insumo para Clase 2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083300" y="8267700"/>
            <a:ext cx="9283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Analiza qué áreas de gestión fallaron en cada caso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6197600" y="4673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6197600" y="5461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6197600" y="62484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6197600" y="70358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6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31517" b="31517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name="TextBox 6" id="6"/>
          <p:cNvSpPr txBox="true"/>
          <p:nvPr/>
        </p:nvSpPr>
        <p:spPr>
          <a:xfrm>
            <a:off x="876300" y="3289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000000"/>
                </a:solidFill>
                <a:latin typeface="&quot;Nunito Sans&quot;"/>
              </a:rPr>
              <a:t>¿Preguntas finales?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76300" y="43307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00000"/>
                </a:solidFill>
                <a:latin typeface="&quot;Nunito Sans&quot;"/>
              </a:rPr>
              <a:t>Próximo paso: selección de ideas de proyecto y conformación de equipos. La gestión se aprende haciendo: cada semana construimos evidencia.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>
            <a:off x="876300" y="1727200"/>
            <a:ext cx="9283700" cy="6172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1727200"/>
            <a:ext cx="2921000" cy="4089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7" id="7"/>
          <p:cNvSpPr/>
          <p:nvPr/>
        </p:nvSpPr>
        <p:spPr>
          <a:xfrm>
            <a:off x="1219200" y="19177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3593BF"/>
          </a:solidFill>
        </p:spPr>
      </p:sp>
      <p:sp>
        <p:nvSpPr>
          <p:cNvPr name="AutoShape 8" id="8"/>
          <p:cNvSpPr/>
          <p:nvPr/>
        </p:nvSpPr>
        <p:spPr>
          <a:xfrm>
            <a:off x="4051300" y="1727200"/>
            <a:ext cx="2921000" cy="4089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9" id="9"/>
          <p:cNvSpPr/>
          <p:nvPr/>
        </p:nvSpPr>
        <p:spPr>
          <a:xfrm>
            <a:off x="4406900" y="19177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3593BF"/>
          </a:solidFill>
        </p:spPr>
      </p:sp>
      <p:sp>
        <p:nvSpPr>
          <p:cNvPr name="AutoShape 10" id="10"/>
          <p:cNvSpPr/>
          <p:nvPr/>
        </p:nvSpPr>
        <p:spPr>
          <a:xfrm>
            <a:off x="7239000" y="1727200"/>
            <a:ext cx="2921000" cy="40894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1" id="11"/>
          <p:cNvSpPr/>
          <p:nvPr/>
        </p:nvSpPr>
        <p:spPr>
          <a:xfrm>
            <a:off x="7581900" y="19177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3593BF"/>
          </a:solidFill>
        </p:spPr>
      </p:sp>
      <p:sp>
        <p:nvSpPr>
          <p:cNvPr name="AutoShape 12" id="12"/>
          <p:cNvSpPr/>
          <p:nvPr/>
        </p:nvSpPr>
        <p:spPr>
          <a:xfrm>
            <a:off x="876300" y="6019800"/>
            <a:ext cx="9283700" cy="1879600"/>
          </a:xfrm>
          <a:prstGeom prst="rect">
            <a:avLst/>
          </a:prstGeom>
          <a:solidFill>
            <a:srgbClr val="C7EDFF"/>
          </a:solidFill>
        </p:spPr>
      </p:sp>
      <p:sp>
        <p:nvSpPr>
          <p:cNvPr name="AutoShape 13" id="13"/>
          <p:cNvSpPr/>
          <p:nvPr/>
        </p:nvSpPr>
        <p:spPr>
          <a:xfrm>
            <a:off x="1219200" y="62103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3593BF"/>
          </a:solidFill>
        </p:spPr>
      </p:sp>
      <p:sp>
        <p:nvSpPr>
          <p:cNvPr name="AutoShape 14" id="14"/>
          <p:cNvSpPr/>
          <p:nvPr/>
        </p:nvSpPr>
        <p:spPr>
          <a:xfrm>
            <a:off x="876300" y="8128000"/>
            <a:ext cx="12700" cy="27940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15" id="15"/>
          <p:cNvSpPr txBox="true"/>
          <p:nvPr/>
        </p:nvSpPr>
        <p:spPr>
          <a:xfrm>
            <a:off x="876300" y="5080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00000"/>
                </a:solidFill>
                <a:latin typeface="&quot;Nunito Sans&quot;"/>
              </a:rPr>
              <a:t>Diagnóstico inicial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876300" y="1181100"/>
            <a:ext cx="9283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000000"/>
                </a:solidFill>
                <a:latin typeface="&quot;Nunito Sans&quot;"/>
              </a:rPr>
              <a:t>Actividad diagnóstica individual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2679700"/>
            <a:ext cx="2413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000000"/>
                </a:solidFill>
                <a:latin typeface="&quot;Nunito Sans&quot;"/>
              </a:rPr>
              <a:t>Actividad diagnóstica individual (Moodle)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305300" y="2679700"/>
            <a:ext cx="24130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000000"/>
                </a:solidFill>
                <a:latin typeface="&quot;Nunito Sans&quot;"/>
              </a:rPr>
              <a:t>Nivel: análisis, decisión y criterio profesional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7493000" y="2679700"/>
            <a:ext cx="24130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200" b="true">
                <a:solidFill>
                  <a:srgbClr val="000000"/>
                </a:solidFill>
                <a:latin typeface="&quot;Nunito Sans&quot;"/>
              </a:rPr>
              <a:t>Incluye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6959600"/>
            <a:ext cx="8775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E74C3C"/>
                </a:solidFill>
                <a:latin typeface="Poppins"/>
              </a:rPr>
              <a:t>No tiene calificación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4165600"/>
            <a:ext cx="2413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Evaluación en línea a través de la plataforma institucional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4305300" y="4508500"/>
            <a:ext cx="2413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Requiere pensamiento crítico y aplicación de conocimientos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7747000" y="3162300"/>
            <a:ext cx="2171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Escenarios reales de gestión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7747000" y="3898900"/>
            <a:ext cx="2171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Ética profesional aplicada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7747000" y="4622800"/>
            <a:ext cx="2171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Uso responsable de IA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30300" y="7442200"/>
            <a:ext cx="87757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Su propósito es identificar el nivel actual de conocimientos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1130300" y="8128000"/>
            <a:ext cx="90297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00000"/>
                </a:solidFill>
                <a:latin typeface="&quot;Nunito Sans&quot;"/>
              </a:rPr>
              <a:t>Este diagnóstico nos ayuda a ajustar el curso a las necesidades del grupo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7366000" y="32004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4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7366000" y="39370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4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7366000" y="46609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400" b="false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108200"/>
            <a:ext cx="177800" cy="177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700" y="2108200"/>
            <a:ext cx="177800" cy="177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108200"/>
            <a:ext cx="177800" cy="1778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64008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